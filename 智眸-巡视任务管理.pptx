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
   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custom"/>
  <p:notesSz cx="6858000" cy="9144000"/>
  <p:defaultTextStyle>
    <a:lvl1pPr>
      <a:defRPr lang="zh-CN" altLang="en-US"/>
    </a:lvl1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
    Target="slideMasters/slideMaster1.xml"/>
  <Relationship Id="rId2" Type="http://schemas.openxmlformats.org/officeDocument/2006/relationships/slide"
   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
   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  <Relationship Id="rId2" Type="http://schemas.openxmlformats.org/officeDocument/2006/relationships/theme"
   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zh-CN"/>
      </a:lvl1pPr>
    </p:titleStyle>
    <p:bodyStyle>
      <a:lvl1pPr>
        <a:defRPr lang="zh-CN"/>
      </a:lvl1pPr>
    </p:bodyStyle>
    <p:otherStyle>
      <a:lvl1pPr>
        <a:defRPr lang="zh-CN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101" name="sp101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</p:sp>
      <p:sp>
        <p:nvSpPr>
          <p:cNvPr id="102" name="sp102"/>
          <p:cNvSpPr>
            <a:spLocks noGrp="1"/>
          </p:cNvSpPr>
          <p:nvPr/>
        </p:nvSpPr>
        <p:spPr>
          <a:xfrm>
            <a:off x="216000" y="144000"/>
            <a:ext cx="72000" cy="432000"/>
          </a:xfrm>
          <a:prstGeom prst="roundRect">
            <a:avLst>
              <a:gd name="adj" fmla="val 2000"/>
            </a:avLst>
          </a:prstGeom>
          <a:solidFill>
            <a:srgbClr val="00D4FF"/>
          </a:solidFill>
          <a:ln>
            <a:noFill/>
          </a:ln>
        </p:spPr>
      </p:sp>
      <p:sp>
        <p:nvSpPr>
          <p:cNvPr id="203" name="txt203"/>
          <p:cNvSpPr txBox="1">
            <a:spLocks noGrp="1"/>
          </p:cNvSpPr>
          <p:nvPr/>
        </p:nvSpPr>
        <p:spPr>
          <a:xfrm>
            <a:off x="360000" y="108000"/>
            <a:ext cx="5400000" cy="504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1270" rIns="1270" tIns="635" bIns="635"/>
          <a:lstStyle/>
          <a:p>
            <a:pPr algn="l"/>
            <a:r>
              <a:rPr lang="zh-CN" altLang="en-US" sz="2400" b="1" dirty="0">
                <a:solidFill>
                  <a:srgbClr val="FFFFFF"/>
                </a:solidFill>
              </a:rPr>
              <a:t>智眸——巡视任务管理</a:t>
            </a:r>
          </a:p>
        </p:txBody>
      </p:sp>
      <p:sp>
        <p:nvSpPr>
          <p:cNvPr id="104" name="sp104"/>
          <p:cNvSpPr>
            <a:spLocks noGrp="1"/>
          </p:cNvSpPr>
          <p:nvPr/>
        </p:nvSpPr>
        <p:spPr>
          <a:xfrm>
            <a:off x="180000" y="684000"/>
            <a:ext cx="2700000" cy="5580000"/>
          </a:xfrm>
          <a:prstGeom prst="rect">
            <a:avLst/>
          </a:prstGeom>
          <a:solidFill>
            <a:srgbClr val="102040"/>
          </a:solidFill>
          <a:ln w="19050">
            <a:solidFill>
              <a:srgbClr val="00D4FF"/>
            </a:solidFill>
          </a:ln>
        </p:spPr>
      </p:sp>
      <p:sp>
        <p:nvSpPr>
          <p:cNvPr id="105" name="sp105"/>
          <p:cNvSpPr>
            <a:spLocks noGrp="1"/>
          </p:cNvSpPr>
          <p:nvPr/>
        </p:nvSpPr>
        <p:spPr>
          <a:xfrm>
            <a:off x="180000" y="684000"/>
            <a:ext cx="2700000" cy="432000"/>
          </a:xfrm>
          <a:prstGeom prst="rect">
            <a:avLst/>
          </a:prstGeom>
          <a:solidFill>
            <a:srgbClr val="0F3460"/>
          </a:solidFill>
          <a:ln w="19050">
            <a:solidFill>
              <a:srgbClr val="00D4FF"/>
            </a:solidFill>
          </a:ln>
        </p:spPr>
      </p:sp>
      <p:sp>
        <p:nvSpPr>
          <p:cNvPr id="206" name="txt206"/>
          <p:cNvSpPr txBox="1">
            <a:spLocks noGrp="1"/>
          </p:cNvSpPr>
          <p:nvPr/>
        </p:nvSpPr>
        <p:spPr>
          <a:xfrm>
            <a:off x="360000" y="684000"/>
            <a:ext cx="2520000" cy="432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1270" rIns="1270" tIns="635" bIns="635"/>
          <a:lstStyle/>
          <a:p>
            <a:pPr algn="l"/>
            <a:r>
              <a:rPr lang="zh-CN" altLang="en-US" sz="1300" b="1" dirty="0">
                <a:solidFill>
                  <a:srgbClr val="00D4FF"/>
                </a:solidFill>
              </a:rPr>
              <a:t>📱  移动端执行</a:t>
            </a:r>
          </a:p>
        </p:txBody>
      </p:sp>
      <p:sp>
        <p:nvSpPr>
          <p:cNvPr id="107" name="sp107"/>
          <p:cNvSpPr>
            <a:spLocks noGrp="1"/>
          </p:cNvSpPr>
          <p:nvPr/>
        </p:nvSpPr>
        <p:spPr>
          <a:xfrm>
            <a:off x="270000" y="1170000"/>
            <a:ext cx="2520000" cy="1512000"/>
          </a:xfrm>
          <a:prstGeom prst="rect">
            <a:avLst/>
          </a:prstGeom>
          <a:solidFill>
            <a:srgbClr val="0D2A4A"/>
          </a:solidFill>
          <a:ln w="10160">
            <a:solidFill>
              <a:srgbClr val="00D4FF"/>
            </a:solidFill>
          </a:ln>
        </p:spPr>
      </p:sp>
      <p:sp>
        <p:nvSpPr>
          <p:cNvPr id="208" name="txt208"/>
          <p:cNvSpPr txBox="1">
            <a:spLocks noGrp="1"/>
          </p:cNvSpPr>
          <p:nvPr/>
        </p:nvSpPr>
        <p:spPr>
          <a:xfrm>
            <a:off x="324000" y="1206000"/>
            <a:ext cx="2412000" cy="1440000"/>
          </a:xfrm>
          <a:prstGeom prst="rect">
            <a:avLst/>
          </a:prstGeom>
          <a:noFill/>
          <a:ln>
            <a:noFill/>
          </a:ln>
        </p:spPr>
        <p:txBody>
          <a:bodyPr anchor="t" wrap="square" lIns="1270" rIns="1270" tIns="635" bIns="635"/>
          <a:lstStyle/>
          <a:p>
            <a:pPr algn="l"/>
            <a:r>
              <a:rPr lang="zh-CN" altLang="en-US" sz="1100" b="1" dirty="0">
                <a:solidFill>
                  <a:srgbClr val="00D4FF"/>
                </a:solidFill>
              </a:rPr>
              <a:t>扫码签到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APP / 小程序端扫码签到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确保巡视人员到岗到位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/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· 支持NFC双重打卡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· 非指定点位自动预警</a:t>
            </a:r>
          </a:p>
        </p:txBody>
      </p:sp>
      <p:sp>
        <p:nvSpPr>
          <p:cNvPr id="109" name="sp109"/>
          <p:cNvSpPr>
            <a:spLocks noGrp="1"/>
          </p:cNvSpPr>
          <p:nvPr/>
        </p:nvSpPr>
        <p:spPr>
          <a:xfrm>
            <a:off x="270000" y="2754000"/>
            <a:ext cx="2520000" cy="1512000"/>
          </a:xfrm>
          <a:prstGeom prst="rect">
            <a:avLst/>
          </a:prstGeom>
          <a:solidFill>
            <a:srgbClr val="0D2A4A"/>
          </a:solidFill>
          <a:ln w="10160">
            <a:solidFill>
              <a:srgbClr val="00D4FF"/>
            </a:solidFill>
          </a:ln>
        </p:spPr>
      </p:sp>
      <p:sp>
        <p:nvSpPr>
          <p:cNvPr id="210" name="txt210"/>
          <p:cNvSpPr txBox="1">
            <a:spLocks noGrp="1"/>
          </p:cNvSpPr>
          <p:nvPr/>
        </p:nvSpPr>
        <p:spPr>
          <a:xfrm>
            <a:off x="324000" y="2790000"/>
            <a:ext cx="2412000" cy="1440000"/>
          </a:xfrm>
          <a:prstGeom prst="rect">
            <a:avLst/>
          </a:prstGeom>
          <a:noFill/>
          <a:ln>
            <a:noFill/>
          </a:ln>
        </p:spPr>
        <p:txBody>
          <a:bodyPr anchor="t" wrap="square" lIns="1270" rIns="1270" tIns="635" bIns="635"/>
          <a:lstStyle/>
          <a:p>
            <a:pPr algn="l"/>
            <a:r>
              <a:rPr lang="zh-CN" altLang="en-US" sz="1100" b="1" dirty="0">
                <a:solidFill>
                  <a:srgbClr val="00D4FF"/>
                </a:solidFill>
              </a:rPr>
              <a:t>定位打卡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GPS 实时定位验证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精确记录巡视轨迹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/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· 杜绝漏检、代检</a:t>
            </a:r>
          </a:p>
        </p:txBody>
      </p:sp>
      <p:sp>
        <p:nvSpPr>
          <p:cNvPr id="111" name="sp111"/>
          <p:cNvSpPr>
            <a:spLocks noGrp="1"/>
          </p:cNvSpPr>
          <p:nvPr/>
        </p:nvSpPr>
        <p:spPr>
          <a:xfrm>
            <a:off x="270000" y="4338000"/>
            <a:ext cx="2520000" cy="1512000"/>
          </a:xfrm>
          <a:prstGeom prst="rect">
            <a:avLst/>
          </a:prstGeom>
          <a:solidFill>
            <a:srgbClr val="0D2A4A"/>
          </a:solidFill>
          <a:ln w="10160">
            <a:solidFill>
              <a:srgbClr val="00D4FF"/>
            </a:solidFill>
          </a:ln>
        </p:spPr>
      </p:sp>
      <p:sp>
        <p:nvSpPr>
          <p:cNvPr id="212" name="txt212"/>
          <p:cNvSpPr txBox="1">
            <a:spLocks noGrp="1"/>
          </p:cNvSpPr>
          <p:nvPr/>
        </p:nvSpPr>
        <p:spPr>
          <a:xfrm>
            <a:off x="324000" y="4374000"/>
            <a:ext cx="2412000" cy="1440000"/>
          </a:xfrm>
          <a:prstGeom prst="rect">
            <a:avLst/>
          </a:prstGeom>
          <a:noFill/>
          <a:ln>
            <a:noFill/>
          </a:ln>
        </p:spPr>
        <p:txBody>
          <a:bodyPr anchor="t" wrap="square" lIns="1270" rIns="1270" tIns="635" bIns="635"/>
          <a:lstStyle/>
          <a:p>
            <a:pPr algn="l"/>
            <a:r>
              <a:rPr lang="zh-CN" altLang="en-US" sz="1100" b="1" dirty="0">
                <a:solidFill>
                  <a:srgbClr val="00D4FF"/>
                </a:solidFill>
              </a:rPr>
              <a:t>影像留存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现场拍照同步上传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佐证巡视真实到位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/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· 自动添加时间地点水印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· 语音录入巡检情况</a:t>
            </a:r>
          </a:p>
        </p:txBody>
      </p:sp>
      <p:sp>
        <p:nvSpPr>
          <p:cNvPr id="113" name="sp113"/>
          <p:cNvSpPr>
            <a:spLocks noGrp="1"/>
          </p:cNvSpPr>
          <p:nvPr/>
        </p:nvSpPr>
        <p:spPr>
          <a:xfrm>
            <a:off x="3240000" y="684000"/>
            <a:ext cx="3060000" cy="5580000"/>
          </a:xfrm>
          <a:prstGeom prst="rect">
            <a:avLst/>
          </a:prstGeom>
          <a:solidFill>
            <a:srgbClr val="102040"/>
          </a:solidFill>
          <a:ln w="19050">
            <a:solidFill>
              <a:srgbClr val="00D4FF"/>
            </a:solidFill>
          </a:ln>
        </p:spPr>
      </p:sp>
      <p:sp>
        <p:nvSpPr>
          <p:cNvPr id="114" name="sp114"/>
          <p:cNvSpPr>
            <a:spLocks noGrp="1"/>
          </p:cNvSpPr>
          <p:nvPr/>
        </p:nvSpPr>
        <p:spPr>
          <a:xfrm>
            <a:off x="3240000" y="684000"/>
            <a:ext cx="3060000" cy="432000"/>
          </a:xfrm>
          <a:prstGeom prst="rect">
            <a:avLst/>
          </a:prstGeom>
          <a:solidFill>
            <a:srgbClr val="0F3460"/>
          </a:solidFill>
          <a:ln w="19050">
            <a:solidFill>
              <a:srgbClr val="00D4FF"/>
            </a:solidFill>
          </a:ln>
        </p:spPr>
      </p:sp>
      <p:sp>
        <p:nvSpPr>
          <p:cNvPr id="215" name="txt215"/>
          <p:cNvSpPr txBox="1">
            <a:spLocks noGrp="1"/>
          </p:cNvSpPr>
          <p:nvPr/>
        </p:nvSpPr>
        <p:spPr>
          <a:xfrm>
            <a:off x="3420000" y="684000"/>
            <a:ext cx="2880000" cy="432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1270" rIns="1270" tIns="635" bIns="635"/>
          <a:lstStyle/>
          <a:p>
            <a:pPr algn="l"/>
            <a:r>
              <a:rPr lang="zh-CN" altLang="en-US" sz="1300" b="1" dirty="0">
                <a:solidFill>
                  <a:srgbClr val="00D4FF"/>
                </a:solidFill>
              </a:rPr>
              <a:t>🤖  AI 辅助识别</a:t>
            </a:r>
          </a:p>
        </p:txBody>
      </p:sp>
      <p:sp>
        <p:nvSpPr>
          <p:cNvPr id="116" name="sp116"/>
          <p:cNvSpPr>
            <a:spLocks noGrp="1"/>
          </p:cNvSpPr>
          <p:nvPr/>
        </p:nvSpPr>
        <p:spPr>
          <a:xfrm>
            <a:off x="3330000" y="1170000"/>
            <a:ext cx="2880000" cy="270000"/>
          </a:xfrm>
          <a:prstGeom prst="rect">
            <a:avLst/>
          </a:prstGeom>
          <a:solidFill>
            <a:srgbClr val="0D2A4A"/>
          </a:solidFill>
          <a:ln w="10160">
            <a:solidFill>
              <a:srgbClr val="00D4FF"/>
            </a:solidFill>
          </a:ln>
        </p:spPr>
      </p:sp>
      <p:sp>
        <p:nvSpPr>
          <p:cNvPr id="217" name="txt217"/>
          <p:cNvSpPr txBox="1">
            <a:spLocks noGrp="1"/>
          </p:cNvSpPr>
          <p:nvPr/>
        </p:nvSpPr>
        <p:spPr>
          <a:xfrm>
            <a:off x="3330000" y="1170000"/>
            <a:ext cx="2880000" cy="27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1270" rIns="1270" tIns="635" bIns="635"/>
          <a:lstStyle/>
          <a:p>
            <a:pPr algn="ctr"/>
            <a:r>
              <a:rPr lang="zh-CN" altLang="en-US" sz="1000" b="1" dirty="0">
                <a:solidFill>
                  <a:srgbClr val="FFFFFF"/>
                </a:solidFill>
              </a:rPr>
              <a:t>拍照 / 录像上传  →  自动智能识别</a:t>
            </a:r>
          </a:p>
        </p:txBody>
      </p:sp>
      <p:sp>
        <p:nvSpPr>
          <p:cNvPr id="118" name="sp118"/>
          <p:cNvSpPr>
            <a:spLocks noGrp="1"/>
          </p:cNvSpPr>
          <p:nvPr/>
        </p:nvSpPr>
        <p:spPr>
          <a:xfrm>
            <a:off x="3330000" y="1494000"/>
            <a:ext cx="936000" cy="792000"/>
          </a:xfrm>
          <a:prstGeom prst="rect">
            <a:avLst/>
          </a:prstGeom>
          <a:solidFill>
            <a:srgbClr val="0D2A4A"/>
          </a:solidFill>
          <a:ln w="15240">
            <a:solidFill>
              <a:srgbClr val="00D4FF"/>
            </a:solidFill>
          </a:ln>
        </p:spPr>
      </p:sp>
      <p:sp>
        <p:nvSpPr>
          <p:cNvPr id="219" name="txt219"/>
          <p:cNvSpPr txBox="1">
            <a:spLocks noGrp="1"/>
          </p:cNvSpPr>
          <p:nvPr/>
        </p:nvSpPr>
        <p:spPr>
          <a:xfrm>
            <a:off x="3348000" y="1530000"/>
            <a:ext cx="900000" cy="720000"/>
          </a:xfrm>
          <a:prstGeom prst="rect">
            <a:avLst/>
          </a:prstGeom>
          <a:noFill/>
          <a:ln>
            <a:noFill/>
          </a:ln>
        </p:spPr>
        <p:txBody>
          <a:bodyPr anchor="t" wrap="square" lIns="1270" rIns="1270" tIns="635" bIns="635"/>
          <a:lstStyle/>
          <a:p>
            <a:pPr algn="ctr"/>
            <a:r>
              <a:rPr lang="zh-CN" altLang="en-US" sz="1000" b="1" dirty="0">
                <a:solidFill>
                  <a:srgbClr val="00D4FF"/>
                </a:solidFill>
              </a:rPr>
              <a:t>设备异常</a:t>
            </a:r>
          </a:p>
          <a:p>
            <a:pPr algn="ctr"/>
            <a:r>
              <a:rPr lang="zh-CN" altLang="en-US" sz="900" b="0" dirty="0">
                <a:solidFill>
                  <a:srgbClr val="8AC8E8"/>
                </a:solidFill>
              </a:rPr>
              <a:t>异响/破损</a:t>
            </a:r>
          </a:p>
          <a:p>
            <a:pPr algn="ctr"/>
            <a:r>
              <a:rPr lang="zh-CN" altLang="en-US" sz="900" b="0" dirty="0">
                <a:solidFill>
                  <a:srgbClr val="8AC8E8"/>
                </a:solidFill>
              </a:rPr>
              <a:t>参数异常</a:t>
            </a:r>
          </a:p>
        </p:txBody>
      </p:sp>
      <p:sp>
        <p:nvSpPr>
          <p:cNvPr id="120" name="sp120"/>
          <p:cNvSpPr>
            <a:spLocks noGrp="1"/>
          </p:cNvSpPr>
          <p:nvPr/>
        </p:nvSpPr>
        <p:spPr>
          <a:xfrm>
            <a:off x="4302000" y="1494000"/>
            <a:ext cx="936000" cy="792000"/>
          </a:xfrm>
          <a:prstGeom prst="rect">
            <a:avLst/>
          </a:prstGeom>
          <a:solidFill>
            <a:srgbClr val="0D2A4A"/>
          </a:solidFill>
          <a:ln w="15240">
            <a:solidFill>
              <a:srgbClr val="00D4FF"/>
            </a:solidFill>
          </a:ln>
        </p:spPr>
      </p:sp>
      <p:sp>
        <p:nvSpPr>
          <p:cNvPr id="221" name="txt221"/>
          <p:cNvSpPr txBox="1">
            <a:spLocks noGrp="1"/>
          </p:cNvSpPr>
          <p:nvPr/>
        </p:nvSpPr>
        <p:spPr>
          <a:xfrm>
            <a:off x="4320000" y="1530000"/>
            <a:ext cx="900000" cy="720000"/>
          </a:xfrm>
          <a:prstGeom prst="rect">
            <a:avLst/>
          </a:prstGeom>
          <a:noFill/>
          <a:ln>
            <a:noFill/>
          </a:ln>
        </p:spPr>
        <p:txBody>
          <a:bodyPr anchor="t" wrap="square" lIns="1270" rIns="1270" tIns="635" bIns="635"/>
          <a:lstStyle/>
          <a:p>
            <a:pPr algn="ctr"/>
            <a:r>
              <a:rPr lang="zh-CN" altLang="en-US" sz="1000" b="1" dirty="0">
                <a:solidFill>
                  <a:srgbClr val="00D4FF"/>
                </a:solidFill>
              </a:rPr>
              <a:t>安全隐患</a:t>
            </a:r>
          </a:p>
          <a:p>
            <a:pPr algn="ctr"/>
            <a:r>
              <a:rPr lang="zh-CN" altLang="en-US" sz="900" b="0" dirty="0">
                <a:solidFill>
                  <a:srgbClr val="8AC8E8"/>
                </a:solidFill>
              </a:rPr>
              <a:t>消防缺失</a:t>
            </a:r>
          </a:p>
          <a:p>
            <a:pPr algn="ctr"/>
            <a:r>
              <a:rPr lang="zh-CN" altLang="en-US" sz="900" b="0" dirty="0">
                <a:solidFill>
                  <a:srgbClr val="8AC8E8"/>
                </a:solidFill>
              </a:rPr>
              <a:t>违规堆放</a:t>
            </a:r>
          </a:p>
        </p:txBody>
      </p:sp>
      <p:sp>
        <p:nvSpPr>
          <p:cNvPr id="122" name="sp122"/>
          <p:cNvSpPr>
            <a:spLocks noGrp="1"/>
          </p:cNvSpPr>
          <p:nvPr/>
        </p:nvSpPr>
        <p:spPr>
          <a:xfrm>
            <a:off x="5274000" y="1494000"/>
            <a:ext cx="936000" cy="792000"/>
          </a:xfrm>
          <a:prstGeom prst="rect">
            <a:avLst/>
          </a:prstGeom>
          <a:solidFill>
            <a:srgbClr val="0D2A4A"/>
          </a:solidFill>
          <a:ln w="15240">
            <a:solidFill>
              <a:srgbClr val="00D4FF"/>
            </a:solidFill>
          </a:ln>
        </p:spPr>
      </p:sp>
      <p:sp>
        <p:nvSpPr>
          <p:cNvPr id="223" name="txt223"/>
          <p:cNvSpPr txBox="1">
            <a:spLocks noGrp="1"/>
          </p:cNvSpPr>
          <p:nvPr/>
        </p:nvSpPr>
        <p:spPr>
          <a:xfrm>
            <a:off x="5292000" y="1530000"/>
            <a:ext cx="900000" cy="720000"/>
          </a:xfrm>
          <a:prstGeom prst="rect">
            <a:avLst/>
          </a:prstGeom>
          <a:noFill/>
          <a:ln>
            <a:noFill/>
          </a:ln>
        </p:spPr>
        <p:txBody>
          <a:bodyPr anchor="t" wrap="square" lIns="1270" rIns="1270" tIns="635" bIns="635"/>
          <a:lstStyle/>
          <a:p>
            <a:pPr algn="ctr"/>
            <a:r>
              <a:rPr lang="zh-CN" altLang="en-US" sz="1000" b="1" dirty="0">
                <a:solidFill>
                  <a:srgbClr val="00D4FF"/>
                </a:solidFill>
              </a:rPr>
              <a:t>合规问题</a:t>
            </a:r>
          </a:p>
          <a:p>
            <a:pPr algn="ctr"/>
            <a:r>
              <a:rPr lang="zh-CN" altLang="en-US" sz="900" b="0" dirty="0">
                <a:solidFill>
                  <a:srgbClr val="8AC8E8"/>
                </a:solidFill>
              </a:rPr>
              <a:t>标识不规范</a:t>
            </a:r>
          </a:p>
        </p:txBody>
      </p:sp>
      <p:sp>
        <p:nvSpPr>
          <p:cNvPr id="124" name="sp124"/>
          <p:cNvSpPr>
            <a:spLocks noGrp="1"/>
          </p:cNvSpPr>
          <p:nvPr/>
        </p:nvSpPr>
        <p:spPr>
          <a:xfrm>
            <a:off x="3330000" y="2340000"/>
            <a:ext cx="2880000" cy="234000"/>
          </a:xfrm>
          <a:prstGeom prst="rect">
            <a:avLst/>
          </a:prstGeom>
          <a:solidFill>
            <a:srgbClr val="0D2A4A"/>
          </a:solidFill>
          <a:ln w="10160">
            <a:solidFill>
              <a:srgbClr val="00D4FF"/>
            </a:solidFill>
          </a:ln>
        </p:spPr>
      </p:sp>
      <p:sp>
        <p:nvSpPr>
          <p:cNvPr id="225" name="txt225"/>
          <p:cNvSpPr txBox="1">
            <a:spLocks noGrp="1"/>
          </p:cNvSpPr>
          <p:nvPr/>
        </p:nvSpPr>
        <p:spPr>
          <a:xfrm>
            <a:off x="3330000" y="2340000"/>
            <a:ext cx="2880000" cy="234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1270" rIns="1270" tIns="635" bIns="635"/>
          <a:lstStyle/>
          <a:p>
            <a:pPr algn="ctr"/>
            <a:r>
              <a:rPr lang="zh-CN" altLang="en-US" sz="900" b="0" dirty="0">
                <a:solidFill>
                  <a:srgbClr val="FFD700"/>
                </a:solidFill>
              </a:rPr>
              <a:t>内置行业专属模型 · 识别准确率可配置优化</a:t>
            </a:r>
          </a:p>
        </p:txBody>
      </p:sp>
      <p:sp>
        <p:nvSpPr>
          <p:cNvPr id="126" name="sp126"/>
          <p:cNvSpPr>
            <a:spLocks noGrp="1"/>
          </p:cNvSpPr>
          <p:nvPr/>
        </p:nvSpPr>
        <p:spPr>
          <a:xfrm>
            <a:off x="3330000" y="2304000"/>
            <a:ext cx="936000" cy="234000"/>
          </a:xfrm>
          <a:prstGeom prst="roundRect">
            <a:avLst>
              <a:gd name="adj" fmla="val 2000"/>
            </a:avLst>
          </a:prstGeom>
          <a:solidFill>
            <a:srgbClr val="0D2A4A"/>
          </a:solidFill>
          <a:ln w="10160">
            <a:solidFill>
              <a:srgbClr val="00D4FF"/>
            </a:solidFill>
          </a:ln>
        </p:spPr>
      </p:sp>
      <p:sp>
        <p:nvSpPr>
          <p:cNvPr id="227" name="txt227"/>
          <p:cNvSpPr txBox="1">
            <a:spLocks noGrp="1"/>
          </p:cNvSpPr>
          <p:nvPr/>
        </p:nvSpPr>
        <p:spPr>
          <a:xfrm>
            <a:off x="3330000" y="2304000"/>
            <a:ext cx="936000" cy="234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1270" rIns="1270" tIns="635" bIns="635"/>
          <a:lstStyle/>
          <a:p>
            <a:pPr algn="l"/>
            <a:r>
              <a:rPr lang="zh-CN" altLang="en-US" sz="800" b="0" dirty="0">
                <a:solidFill>
                  <a:srgbClr val="00D4FF"/>
                </a:solidFill>
              </a:rPr>
              <a:t>⚡ 电力设备</a:t>
            </a:r>
          </a:p>
        </p:txBody>
      </p:sp>
      <p:sp>
        <p:nvSpPr>
          <p:cNvPr id="128" name="sp128"/>
          <p:cNvSpPr>
            <a:spLocks noGrp="1"/>
          </p:cNvSpPr>
          <p:nvPr/>
        </p:nvSpPr>
        <p:spPr>
          <a:xfrm>
            <a:off x="4302000" y="2304000"/>
            <a:ext cx="936000" cy="234000"/>
          </a:xfrm>
          <a:prstGeom prst="roundRect">
            <a:avLst>
              <a:gd name="adj" fmla="val 2000"/>
            </a:avLst>
          </a:prstGeom>
          <a:solidFill>
            <a:srgbClr val="0D2A4A"/>
          </a:solidFill>
          <a:ln w="10160">
            <a:solidFill>
              <a:srgbClr val="00D4FF"/>
            </a:solidFill>
          </a:ln>
        </p:spPr>
      </p:sp>
      <p:sp>
        <p:nvSpPr>
          <p:cNvPr id="229" name="txt229"/>
          <p:cNvSpPr txBox="1">
            <a:spLocks noGrp="1"/>
          </p:cNvSpPr>
          <p:nvPr/>
        </p:nvSpPr>
        <p:spPr>
          <a:xfrm>
            <a:off x="4302000" y="2304000"/>
            <a:ext cx="936000" cy="234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1270" rIns="1270" tIns="635" bIns="635"/>
          <a:lstStyle/>
          <a:p>
            <a:pPr algn="l"/>
            <a:r>
              <a:rPr lang="zh-CN" altLang="en-US" sz="800" b="0" dirty="0">
                <a:solidFill>
                  <a:srgbClr val="00D4FF"/>
                </a:solidFill>
              </a:rPr>
              <a:t>🏭 制造车间</a:t>
            </a:r>
          </a:p>
        </p:txBody>
      </p:sp>
      <p:sp>
        <p:nvSpPr>
          <p:cNvPr id="130" name="sp130"/>
          <p:cNvSpPr>
            <a:spLocks noGrp="1"/>
          </p:cNvSpPr>
          <p:nvPr/>
        </p:nvSpPr>
        <p:spPr>
          <a:xfrm>
            <a:off x="5274000" y="2304000"/>
            <a:ext cx="936000" cy="234000"/>
          </a:xfrm>
          <a:prstGeom prst="roundRect">
            <a:avLst>
              <a:gd name="adj" fmla="val 2000"/>
            </a:avLst>
          </a:prstGeom>
          <a:solidFill>
            <a:srgbClr val="0D2A4A"/>
          </a:solidFill>
          <a:ln w="10160">
            <a:solidFill>
              <a:srgbClr val="00D4FF"/>
            </a:solidFill>
          </a:ln>
        </p:spPr>
      </p:sp>
      <p:sp>
        <p:nvSpPr>
          <p:cNvPr id="231" name="txt231"/>
          <p:cNvSpPr txBox="1">
            <a:spLocks noGrp="1"/>
          </p:cNvSpPr>
          <p:nvPr/>
        </p:nvSpPr>
        <p:spPr>
          <a:xfrm>
            <a:off x="5274000" y="2304000"/>
            <a:ext cx="936000" cy="234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1270" rIns="1270" tIns="635" bIns="635"/>
          <a:lstStyle/>
          <a:p>
            <a:pPr algn="l"/>
            <a:r>
              <a:rPr lang="zh-CN" altLang="en-US" sz="800" b="0" dirty="0">
                <a:solidFill>
                  <a:srgbClr val="00D4FF"/>
                </a:solidFill>
              </a:rPr>
              <a:t>🏢 办公区域</a:t>
            </a:r>
          </a:p>
        </p:txBody>
      </p:sp>
      <p:sp>
        <p:nvSpPr>
          <p:cNvPr id="132" name="sp132"/>
          <p:cNvSpPr>
            <a:spLocks noGrp="1"/>
          </p:cNvSpPr>
          <p:nvPr/>
        </p:nvSpPr>
        <p:spPr>
          <a:xfrm>
            <a:off x="3330000" y="2592000"/>
            <a:ext cx="2880000" cy="1368000"/>
          </a:xfrm>
          <a:prstGeom prst="rect">
            <a:avLst/>
          </a:prstGeom>
          <a:solidFill>
            <a:srgbClr val="0D2A4A"/>
          </a:solidFill>
          <a:ln w="10160">
            <a:solidFill>
              <a:srgbClr val="00D4FF"/>
            </a:solidFill>
          </a:ln>
        </p:spPr>
      </p:sp>
      <p:sp>
        <p:nvSpPr>
          <p:cNvPr id="233" name="txt233"/>
          <p:cNvSpPr txBox="1">
            <a:spLocks noGrp="1"/>
          </p:cNvSpPr>
          <p:nvPr/>
        </p:nvSpPr>
        <p:spPr>
          <a:xfrm>
            <a:off x="3384000" y="2628000"/>
            <a:ext cx="2772000" cy="1296000"/>
          </a:xfrm>
          <a:prstGeom prst="rect">
            <a:avLst/>
          </a:prstGeom>
          <a:noFill/>
          <a:ln>
            <a:noFill/>
          </a:ln>
        </p:spPr>
        <p:txBody>
          <a:bodyPr anchor="t" wrap="square" lIns="1270" rIns="1270" tIns="635" bIns="635"/>
          <a:lstStyle/>
          <a:p>
            <a:pPr algn="l"/>
            <a:r>
              <a:rPr lang="zh-CN" altLang="en-US" sz="1100" b="1" dirty="0">
                <a:solidFill>
                  <a:srgbClr val="00D4FF"/>
                </a:solidFill>
              </a:rPr>
              <a:t>算法模型库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· 积水识别 / 火焰识别 / 烟雾识别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· 安全帽识别 / 安全绳识别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· 人员合规融合识别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· 跑冒滴漏识别 / 第三方算法API</a:t>
            </a:r>
          </a:p>
        </p:txBody>
      </p:sp>
      <p:sp>
        <p:nvSpPr>
          <p:cNvPr id="134" name="sp134"/>
          <p:cNvSpPr>
            <a:spLocks noGrp="1"/>
          </p:cNvSpPr>
          <p:nvPr/>
        </p:nvSpPr>
        <p:spPr>
          <a:xfrm>
            <a:off x="3330000" y="4014000"/>
            <a:ext cx="2880000" cy="648000"/>
          </a:xfrm>
          <a:prstGeom prst="rect">
            <a:avLst/>
          </a:prstGeom>
          <a:solidFill>
            <a:srgbClr val="0D2A4A"/>
          </a:solidFill>
          <a:ln w="10160">
            <a:solidFill>
              <a:srgbClr val="00D4FF"/>
            </a:solidFill>
          </a:ln>
        </p:spPr>
      </p:sp>
      <p:sp>
        <p:nvSpPr>
          <p:cNvPr id="235" name="txt235"/>
          <p:cNvSpPr txBox="1">
            <a:spLocks noGrp="1"/>
          </p:cNvSpPr>
          <p:nvPr/>
        </p:nvSpPr>
        <p:spPr>
          <a:xfrm>
            <a:off x="3384000" y="4050000"/>
            <a:ext cx="2772000" cy="576000"/>
          </a:xfrm>
          <a:prstGeom prst="rect">
            <a:avLst/>
          </a:prstGeom>
          <a:noFill/>
          <a:ln>
            <a:noFill/>
          </a:ln>
        </p:spPr>
        <p:txBody>
          <a:bodyPr anchor="t" wrap="square" lIns="1270" rIns="1270" tIns="635" bIns="635"/>
          <a:lstStyle/>
          <a:p>
            <a:pPr algn="l"/>
            <a:r>
              <a:rPr lang="zh-CN" altLang="en-US" sz="1100" b="1" dirty="0">
                <a:solidFill>
                  <a:srgbClr val="00D4FF"/>
                </a:solidFill>
              </a:rPr>
              <a:t>实时分析引擎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逐帧/抽帧解码 · 结构化告警实时推送</a:t>
            </a:r>
          </a:p>
        </p:txBody>
      </p:sp>
      <p:sp>
        <p:nvSpPr>
          <p:cNvPr id="136" name="sp136"/>
          <p:cNvSpPr>
            <a:spLocks noGrp="1"/>
          </p:cNvSpPr>
          <p:nvPr/>
        </p:nvSpPr>
        <p:spPr>
          <a:xfrm>
            <a:off x="3330000" y="4716000"/>
            <a:ext cx="1413000" cy="576000"/>
          </a:xfrm>
          <a:prstGeom prst="rect">
            <a:avLst/>
          </a:prstGeom>
          <a:solidFill>
            <a:srgbClr val="0D2A4A"/>
          </a:solidFill>
          <a:ln w="10160">
            <a:solidFill>
              <a:srgbClr val="00D4FF"/>
            </a:solidFill>
          </a:ln>
        </p:spPr>
      </p:sp>
      <p:sp>
        <p:nvSpPr>
          <p:cNvPr id="237" name="txt237"/>
          <p:cNvSpPr txBox="1">
            <a:spLocks noGrp="1"/>
          </p:cNvSpPr>
          <p:nvPr/>
        </p:nvSpPr>
        <p:spPr>
          <a:xfrm>
            <a:off x="3330000" y="4716000"/>
            <a:ext cx="1413000" cy="576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1270" rIns="1270" tIns="635" bIns="635"/>
          <a:lstStyle/>
          <a:p>
            <a:pPr algn="ctr"/>
            <a:r>
              <a:rPr lang="zh-CN" altLang="en-US" sz="900" b="1" dirty="0">
                <a:solidFill>
                  <a:srgbClr val="FFFFFF"/>
                </a:solidFill>
              </a:rPr>
              <a:t>图像增强预处理</a:t>
            </a:r>
          </a:p>
          <a:p>
            <a:pPr algn="ctr"/>
            <a:r>
              <a:rPr lang="zh-CN" altLang="en-US" sz="800" b="0" dirty="0">
                <a:solidFill>
                  <a:srgbClr val="8AC8E8"/>
                </a:solidFill>
              </a:rPr>
              <a:t>降噪/清晰度优化</a:t>
            </a:r>
          </a:p>
        </p:txBody>
      </p:sp>
      <p:sp>
        <p:nvSpPr>
          <p:cNvPr id="138" name="sp138"/>
          <p:cNvSpPr>
            <a:spLocks noGrp="1"/>
          </p:cNvSpPr>
          <p:nvPr/>
        </p:nvSpPr>
        <p:spPr>
          <a:xfrm>
            <a:off x="4797000" y="4716000"/>
            <a:ext cx="1413000" cy="576000"/>
          </a:xfrm>
          <a:prstGeom prst="rect">
            <a:avLst/>
          </a:prstGeom>
          <a:solidFill>
            <a:srgbClr val="0D2A4A"/>
          </a:solidFill>
          <a:ln w="10160">
            <a:solidFill>
              <a:srgbClr val="00D4FF"/>
            </a:solidFill>
          </a:ln>
        </p:spPr>
      </p:sp>
      <p:sp>
        <p:nvSpPr>
          <p:cNvPr id="239" name="txt239"/>
          <p:cNvSpPr txBox="1">
            <a:spLocks noGrp="1"/>
          </p:cNvSpPr>
          <p:nvPr/>
        </p:nvSpPr>
        <p:spPr>
          <a:xfrm>
            <a:off x="4797000" y="4716000"/>
            <a:ext cx="1413000" cy="576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1270" rIns="1270" tIns="635" bIns="635"/>
          <a:lstStyle/>
          <a:p>
            <a:pPr algn="ctr"/>
            <a:r>
              <a:rPr lang="zh-CN" altLang="en-US" sz="900" b="1" dirty="0">
                <a:solidFill>
                  <a:srgbClr val="FFFFFF"/>
                </a:solidFill>
              </a:rPr>
              <a:t>人工复核判定</a:t>
            </a:r>
          </a:p>
          <a:p>
            <a:pPr algn="ctr"/>
            <a:r>
              <a:rPr lang="zh-CN" altLang="en-US" sz="800" b="0" dirty="0">
                <a:solidFill>
                  <a:srgbClr val="8AC8E8"/>
                </a:solidFill>
              </a:rPr>
              <a:t>确切/误报/待观察</a:t>
            </a:r>
          </a:p>
        </p:txBody>
      </p:sp>
      <p:sp>
        <p:nvSpPr>
          <p:cNvPr id="140" name="sp140"/>
          <p:cNvSpPr>
            <a:spLocks noGrp="1"/>
          </p:cNvSpPr>
          <p:nvPr/>
        </p:nvSpPr>
        <p:spPr>
          <a:xfrm>
            <a:off x="6660000" y="684000"/>
            <a:ext cx="2700000" cy="5580000"/>
          </a:xfrm>
          <a:prstGeom prst="rect">
            <a:avLst/>
          </a:prstGeom>
          <a:solidFill>
            <a:srgbClr val="102040"/>
          </a:solidFill>
          <a:ln w="19050">
            <a:solidFill>
              <a:srgbClr val="00D4FF"/>
            </a:solidFill>
          </a:ln>
        </p:spPr>
      </p:sp>
      <p:sp>
        <p:nvSpPr>
          <p:cNvPr id="141" name="sp141"/>
          <p:cNvSpPr>
            <a:spLocks noGrp="1"/>
          </p:cNvSpPr>
          <p:nvPr/>
        </p:nvSpPr>
        <p:spPr>
          <a:xfrm>
            <a:off x="6660000" y="684000"/>
            <a:ext cx="2700000" cy="432000"/>
          </a:xfrm>
          <a:prstGeom prst="rect">
            <a:avLst/>
          </a:prstGeom>
          <a:solidFill>
            <a:srgbClr val="0F3460"/>
          </a:solidFill>
          <a:ln w="19050">
            <a:solidFill>
              <a:srgbClr val="00D4FF"/>
            </a:solidFill>
          </a:ln>
        </p:spPr>
      </p:sp>
      <p:sp>
        <p:nvSpPr>
          <p:cNvPr id="242" name="txt242"/>
          <p:cNvSpPr txBox="1">
            <a:spLocks noGrp="1"/>
          </p:cNvSpPr>
          <p:nvPr/>
        </p:nvSpPr>
        <p:spPr>
          <a:xfrm>
            <a:off x="6840000" y="684000"/>
            <a:ext cx="2520000" cy="432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1270" rIns="1270" tIns="635" bIns="635"/>
          <a:lstStyle/>
          <a:p>
            <a:pPr algn="l"/>
            <a:r>
              <a:rPr lang="zh-CN" altLang="en-US" sz="1300" b="1" dirty="0">
                <a:solidFill>
                  <a:srgbClr val="00D4FF"/>
                </a:solidFill>
              </a:rPr>
              <a:t>📋  标准化记录</a:t>
            </a:r>
          </a:p>
        </p:txBody>
      </p:sp>
      <p:sp>
        <p:nvSpPr>
          <p:cNvPr id="143" name="sp143"/>
          <p:cNvSpPr>
            <a:spLocks noGrp="1"/>
          </p:cNvSpPr>
          <p:nvPr/>
        </p:nvSpPr>
        <p:spPr>
          <a:xfrm>
            <a:off x="6750000" y="1170000"/>
            <a:ext cx="2520000" cy="1260000"/>
          </a:xfrm>
          <a:prstGeom prst="rect">
            <a:avLst/>
          </a:prstGeom>
          <a:solidFill>
            <a:srgbClr val="0D2A4A"/>
          </a:solidFill>
          <a:ln w="10160">
            <a:solidFill>
              <a:srgbClr val="00D4FF"/>
            </a:solidFill>
          </a:ln>
        </p:spPr>
      </p:sp>
      <p:sp>
        <p:nvSpPr>
          <p:cNvPr id="244" name="txt244"/>
          <p:cNvSpPr txBox="1">
            <a:spLocks noGrp="1"/>
          </p:cNvSpPr>
          <p:nvPr/>
        </p:nvSpPr>
        <p:spPr>
          <a:xfrm>
            <a:off x="6804000" y="1206000"/>
            <a:ext cx="2412000" cy="1188000"/>
          </a:xfrm>
          <a:prstGeom prst="rect">
            <a:avLst/>
          </a:prstGeom>
          <a:noFill/>
          <a:ln>
            <a:noFill/>
          </a:ln>
        </p:spPr>
        <p:txBody>
          <a:bodyPr anchor="t" wrap="square" lIns="1270" rIns="1270" tIns="635" bIns="635"/>
          <a:lstStyle/>
          <a:p>
            <a:pPr algn="l"/>
            <a:r>
              <a:rPr lang="zh-CN" altLang="en-US" sz="1100" b="1" dirty="0">
                <a:solidFill>
                  <a:srgbClr val="00D4FF"/>
                </a:solidFill>
              </a:rPr>
              <a:t>预设问题选项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单选 / 多选灵活配置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标准化采集流程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/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· 避免人工记录不规范</a:t>
            </a:r>
          </a:p>
        </p:txBody>
      </p:sp>
      <p:sp>
        <p:nvSpPr>
          <p:cNvPr id="145" name="sp145"/>
          <p:cNvSpPr>
            <a:spLocks noGrp="1"/>
          </p:cNvSpPr>
          <p:nvPr/>
        </p:nvSpPr>
        <p:spPr>
          <a:xfrm>
            <a:off x="6750000" y="2484000"/>
            <a:ext cx="2520000" cy="1260000"/>
          </a:xfrm>
          <a:prstGeom prst="rect">
            <a:avLst/>
          </a:prstGeom>
          <a:solidFill>
            <a:srgbClr val="0D2A4A"/>
          </a:solidFill>
          <a:ln w="10160">
            <a:solidFill>
              <a:srgbClr val="00D4FF"/>
            </a:solidFill>
          </a:ln>
        </p:spPr>
      </p:sp>
      <p:sp>
        <p:nvSpPr>
          <p:cNvPr id="246" name="txt246"/>
          <p:cNvSpPr txBox="1">
            <a:spLocks noGrp="1"/>
          </p:cNvSpPr>
          <p:nvPr/>
        </p:nvSpPr>
        <p:spPr>
          <a:xfrm>
            <a:off x="6804000" y="2520000"/>
            <a:ext cx="2412000" cy="1188000"/>
          </a:xfrm>
          <a:prstGeom prst="rect">
            <a:avLst/>
          </a:prstGeom>
          <a:noFill/>
          <a:ln>
            <a:noFill/>
          </a:ln>
        </p:spPr>
        <p:txBody>
          <a:bodyPr anchor="t" wrap="square" lIns="1270" rIns="1270" tIns="635" bIns="635"/>
          <a:lstStyle/>
          <a:p>
            <a:pPr algn="l"/>
            <a:r>
              <a:rPr lang="zh-CN" altLang="en-US" sz="1100" b="1" dirty="0">
                <a:solidFill>
                  <a:srgbClr val="00D4FF"/>
                </a:solidFill>
              </a:rPr>
              <a:t>自定义备注栏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补充特殊情况说明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灵活扩展记录内容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/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· 支持语音快速录入</a:t>
            </a:r>
          </a:p>
        </p:txBody>
      </p:sp>
      <p:sp>
        <p:nvSpPr>
          <p:cNvPr id="147" name="sp147"/>
          <p:cNvSpPr>
            <a:spLocks noGrp="1"/>
          </p:cNvSpPr>
          <p:nvPr/>
        </p:nvSpPr>
        <p:spPr>
          <a:xfrm>
            <a:off x="6750000" y="3798000"/>
            <a:ext cx="2520000" cy="1260000"/>
          </a:xfrm>
          <a:prstGeom prst="rect">
            <a:avLst/>
          </a:prstGeom>
          <a:solidFill>
            <a:srgbClr val="0D2A4A"/>
          </a:solidFill>
          <a:ln w="10160">
            <a:solidFill>
              <a:srgbClr val="00D4FF"/>
            </a:solidFill>
          </a:ln>
        </p:spPr>
      </p:sp>
      <p:sp>
        <p:nvSpPr>
          <p:cNvPr id="248" name="txt248"/>
          <p:cNvSpPr txBox="1">
            <a:spLocks noGrp="1"/>
          </p:cNvSpPr>
          <p:nvPr/>
        </p:nvSpPr>
        <p:spPr>
          <a:xfrm>
            <a:off x="6804000" y="3834000"/>
            <a:ext cx="2412000" cy="1188000"/>
          </a:xfrm>
          <a:prstGeom prst="rect">
            <a:avLst/>
          </a:prstGeom>
          <a:noFill/>
          <a:ln>
            <a:noFill/>
          </a:ln>
        </p:spPr>
        <p:txBody>
          <a:bodyPr anchor="t" wrap="square" lIns="1270" rIns="1270" tIns="635" bIns="635"/>
          <a:lstStyle/>
          <a:p>
            <a:pPr algn="l"/>
            <a:r>
              <a:rPr lang="zh-CN" altLang="en-US" sz="1100" b="1" dirty="0">
                <a:solidFill>
                  <a:srgbClr val="00D4FF"/>
                </a:solidFill>
              </a:rPr>
              <a:t>现场照片上传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拍照上传作为佐证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确保记录真实可信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/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· 自动水印（时间/地点）</a:t>
            </a:r>
          </a:p>
        </p:txBody>
      </p:sp>
      <p:sp>
        <p:nvSpPr>
          <p:cNvPr id="149" name="sp149"/>
          <p:cNvSpPr>
            <a:spLocks noGrp="1"/>
          </p:cNvSpPr>
          <p:nvPr/>
        </p:nvSpPr>
        <p:spPr>
          <a:xfrm>
            <a:off x="6750000" y="5112000"/>
            <a:ext cx="2520000" cy="864000"/>
          </a:xfrm>
          <a:prstGeom prst="rect">
            <a:avLst/>
          </a:prstGeom>
          <a:solidFill>
            <a:srgbClr val="0D2A4A"/>
          </a:solidFill>
          <a:ln w="10160">
            <a:solidFill>
              <a:srgbClr val="00D4FF"/>
            </a:solidFill>
          </a:ln>
        </p:spPr>
      </p:sp>
      <p:sp>
        <p:nvSpPr>
          <p:cNvPr id="250" name="txt250"/>
          <p:cNvSpPr txBox="1">
            <a:spLocks noGrp="1"/>
          </p:cNvSpPr>
          <p:nvPr/>
        </p:nvSpPr>
        <p:spPr>
          <a:xfrm>
            <a:off x="6804000" y="5148000"/>
            <a:ext cx="2412000" cy="792000"/>
          </a:xfrm>
          <a:prstGeom prst="rect">
            <a:avLst/>
          </a:prstGeom>
          <a:noFill/>
          <a:ln>
            <a:noFill/>
          </a:ln>
        </p:spPr>
        <p:txBody>
          <a:bodyPr anchor="t" wrap="square" lIns="1270" rIns="1270" tIns="635" bIns="635"/>
          <a:lstStyle/>
          <a:p>
            <a:pPr algn="l"/>
            <a:r>
              <a:rPr lang="zh-CN" altLang="en-US" sz="1100" b="1" dirty="0">
                <a:solidFill>
                  <a:srgbClr val="00D4FF"/>
                </a:solidFill>
              </a:rPr>
              <a:t>视频留存佐证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录像上传支持回放</a:t>
            </a:r>
          </a:p>
          <a:p>
            <a:pPr algn="l"/>
            <a:r>
              <a:rPr lang="zh-CN" altLang="en-US" sz="900" b="0" dirty="0">
                <a:solidFill>
                  <a:srgbClr val="8AC8E8"/>
                </a:solidFill>
              </a:rPr>
              <a:t>· 前后10秒短视频复核</a:t>
            </a:r>
          </a:p>
        </p:txBody>
      </p:sp>
      <p:sp>
        <p:nvSpPr>
          <p:cNvPr id="351" name="line351"/>
          <p:cNvSpPr>
            <a:spLocks noGrp="1"/>
          </p:cNvSpPr>
          <p:nvPr/>
        </p:nvSpPr>
        <p:spPr>
          <a:xfrm>
            <a:off x="2916000" y="3474000"/>
            <a:ext cx="288000" cy="127"/>
          </a:xfrm>
          <a:prstGeom prst="line">
            <a:avLst/>
          </a:prstGeom>
          <a:noFill/>
          <a:ln w="25400">
            <a:solidFill>
              <a:srgbClr val="00D4FF"/>
            </a:solidFill>
          </a:ln>
        </p:spPr>
        <p:txBody>
          <a:bodyPr/>
          <a:lstStyle/>
          <a:p/>
        </p:txBody>
      </p:sp>
      <p:sp>
        <p:nvSpPr>
          <p:cNvPr id="252" name="txt252"/>
          <p:cNvSpPr txBox="1">
            <a:spLocks noGrp="1"/>
          </p:cNvSpPr>
          <p:nvPr/>
        </p:nvSpPr>
        <p:spPr>
          <a:xfrm>
            <a:off x="2916000" y="3366000"/>
            <a:ext cx="288000" cy="144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1270" rIns="1270" tIns="635" bIns="635"/>
          <a:lstStyle/>
          <a:p>
            <a:pPr algn="ctr"/>
            <a:r>
              <a:rPr lang="zh-CN" altLang="en-US" sz="700" b="0" dirty="0">
                <a:solidFill>
                  <a:srgbClr val="00D4FF"/>
                </a:solidFill>
              </a:rPr>
              <a:t>数据上传</a:t>
            </a:r>
          </a:p>
        </p:txBody>
      </p:sp>
      <p:sp>
        <p:nvSpPr>
          <p:cNvPr id="353" name="line353"/>
          <p:cNvSpPr>
            <a:spLocks noGrp="1"/>
          </p:cNvSpPr>
          <p:nvPr/>
        </p:nvSpPr>
        <p:spPr>
          <a:xfrm>
            <a:off x="6336000" y="3474000"/>
            <a:ext cx="288000" cy="127"/>
          </a:xfrm>
          <a:prstGeom prst="line">
            <a:avLst/>
          </a:prstGeom>
          <a:noFill/>
          <a:ln w="25400">
            <a:solidFill>
              <a:srgbClr val="00D4FF"/>
            </a:solidFill>
          </a:ln>
        </p:spPr>
        <p:txBody>
          <a:bodyPr/>
          <a:lstStyle/>
          <a:p/>
        </p:txBody>
      </p:sp>
      <p:sp>
        <p:nvSpPr>
          <p:cNvPr id="254" name="txt254"/>
          <p:cNvSpPr txBox="1">
            <a:spLocks noGrp="1"/>
          </p:cNvSpPr>
          <p:nvPr/>
        </p:nvSpPr>
        <p:spPr>
          <a:xfrm>
            <a:off x="6336000" y="3366000"/>
            <a:ext cx="288000" cy="144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1270" rIns="1270" tIns="635" bIns="635"/>
          <a:lstStyle/>
          <a:p>
            <a:pPr algn="ctr"/>
            <a:r>
              <a:rPr lang="zh-CN" altLang="en-US" sz="700" b="0" dirty="0">
                <a:solidFill>
                  <a:srgbClr val="00D4FF"/>
                </a:solidFill>
              </a:rPr>
              <a:t>记录归档</a:t>
            </a:r>
          </a:p>
        </p:txBody>
      </p:sp>
      <p:sp>
        <p:nvSpPr>
          <p:cNvPr id="155" name="sp155"/>
          <p:cNvSpPr>
            <a:spLocks noGrp="1"/>
          </p:cNvSpPr>
          <p:nvPr/>
        </p:nvSpPr>
        <p:spPr>
          <a:xfrm>
            <a:off x="180000" y="6372000"/>
            <a:ext cx="8784000" cy="396000"/>
          </a:xfrm>
          <a:prstGeom prst="rect">
            <a:avLst/>
          </a:prstGeom>
          <a:solidFill>
            <a:srgbClr val="0A2040"/>
          </a:solidFill>
          <a:ln w="12700">
            <a:solidFill>
              <a:srgbClr val="00D4FF"/>
            </a:solidFill>
          </a:ln>
        </p:spPr>
      </p:sp>
      <p:sp>
        <p:nvSpPr>
          <p:cNvPr id="256" name="txt256"/>
          <p:cNvSpPr txBox="1">
            <a:spLocks noGrp="1"/>
          </p:cNvSpPr>
          <p:nvPr/>
        </p:nvSpPr>
        <p:spPr>
          <a:xfrm>
            <a:off x="180000" y="6372000"/>
            <a:ext cx="8784000" cy="396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1270" rIns="1270" tIns="635" bIns="635"/>
          <a:lstStyle/>
          <a:p>
            <a:pPr algn="ctr"/>
            <a:r>
              <a:rPr lang="zh-CN" altLang="en-US" sz="1200" b="1" dirty="0">
                <a:solidFill>
                  <a:srgbClr val="FFFFFF"/>
                </a:solidFill>
              </a:rPr>
              <a:t>实现线上线下高效协同，让巡视执行过程</a:t>
            </a:r>
            <a:r>
              <a:rPr lang="zh-CN" altLang="en-US" sz="1300" b="1" dirty="0">
                <a:solidFill>
                  <a:srgbClr val="FFD700"/>
                </a:solidFill>
              </a:rPr>
              <a:t>  标准化</a:t>
            </a:r>
            <a:r>
              <a:rPr lang="zh-CN" altLang="en-US" sz="1200" b="1" dirty="0">
                <a:solidFill>
                  <a:srgbClr val="FFFFFF"/>
                </a:solidFill>
              </a:rPr>
              <a:t>  ·  </a:t>
            </a:r>
            <a:r>
              <a:rPr lang="zh-CN" altLang="en-US" sz="1300" b="1" dirty="0">
                <a:solidFill>
                  <a:srgbClr val="FFD700"/>
                </a:solidFill>
              </a:rPr>
              <a:t>智能化</a:t>
            </a:r>
            <a:r>
              <a:rPr lang="zh-CN" altLang="en-US" sz="1200" b="1" dirty="0">
                <a:solidFill>
                  <a:srgbClr val="FFFFFF"/>
                </a:solidFill>
              </a:rPr>
              <a:t>  ·  </a:t>
            </a:r>
            <a:r>
              <a:rPr lang="zh-CN" altLang="en-US" sz="1300" b="1" dirty="0">
                <a:solidFill>
                  <a:srgbClr val="FFD700"/>
                </a:solidFill>
              </a:rPr>
              <a:t>可追溯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